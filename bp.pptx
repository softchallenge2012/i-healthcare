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4" r:id="rId12"/>
    <p:sldId id="267" r:id="rId13"/>
    <p:sldId id="268" r:id="rId14"/>
    <p:sldId id="270" r:id="rId15"/>
    <p:sldId id="271" r:id="rId16"/>
    <p:sldId id="272" r:id="rId17"/>
    <p:sldId id="269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95"/>
  </p:normalViewPr>
  <p:slideViewPr>
    <p:cSldViewPr snapToGrid="0">
      <p:cViewPr varScale="1">
        <p:scale>
          <a:sx n="102" d="100"/>
          <a:sy n="102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117F1-3011-4245-9EE2-F1CBB1EF0C47}" type="datetimeFigureOut">
              <a:rPr lang="en-US" smtClean="0"/>
              <a:t>11/6/24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1807D-DC4F-A94A-AA55-96E6C439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92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1807D-DC4F-A94A-AA55-96E6C439D1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65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0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6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1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63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5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1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23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88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6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42" r:id="rId6"/>
    <p:sldLayoutId id="2147483737" r:id="rId7"/>
    <p:sldLayoutId id="2147483738" r:id="rId8"/>
    <p:sldLayoutId id="2147483739" r:id="rId9"/>
    <p:sldLayoutId id="2147483741" r:id="rId10"/>
    <p:sldLayoutId id="214748374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ayoclinic.org/diseases-conditions/heart-attack/symptoms-causes/syc-20373106" TargetMode="Externa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pkinsmedicine.org/health/conditions-and-diseases/heart-attack" TargetMode="External"/><Relationship Id="rId2" Type="http://schemas.openxmlformats.org/officeDocument/2006/relationships/hyperlink" Target="https://www.health.harvard.edu/heart-health/chest-pain-a-heart-attack-or-something-els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ebmd.com/heart-disease/coronary-artery-disease" TargetMode="External"/><Relationship Id="rId4" Type="http://schemas.openxmlformats.org/officeDocument/2006/relationships/hyperlink" Target="https://my.clevelandclinic.org/health/diseases/16818-heart-attack-myocardial-infarction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4018/IJPHIMT.33652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 abstract burst of blue and pink">
            <a:extLst>
              <a:ext uri="{FF2B5EF4-FFF2-40B4-BE49-F238E27FC236}">
                <a16:creationId xmlns:a16="http://schemas.microsoft.com/office/drawing/2014/main" id="{87154EC6-C590-39B0-F785-FD6C084F2A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0BC90-E27A-04CF-34DA-E60BEA964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US" sz="36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Public Health Care Service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42319-C23E-4C8A-D2EB-74FB91626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 fontScale="70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Public Health Needs to Serve the Public - 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care is under fingertips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71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2C13-7399-8BB4-62F8-B627D0C2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6A9D8-1EC9-3488-9F59-639050D54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 people to get serious about their health issues by showing the statistics of the diseases.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 people to understand their health issues through case studies, videos and books</a:t>
            </a:r>
            <a:r>
              <a:rPr lang="en-US" dirty="0">
                <a:effectLst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people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make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understanding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their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symptoms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influencing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advance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search</a:t>
            </a:r>
            <a:r>
              <a:rPr lang="en-US" sz="18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en-US" sz="18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professional</a:t>
            </a:r>
            <a:r>
              <a:rPr lang="en-US" dirty="0">
                <a:effectLst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keywords and summaries.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Aggregate reliable sources to provide rich and accurate information in health care.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74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12BA2-75F3-CEE1-9D5C-62B9DB9F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2EDCD-0ACB-AAA6-A917-46BA27F8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Awareness </a:t>
            </a:r>
            <a:r>
              <a:rPr lang="en-US" sz="20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health issues</a:t>
            </a:r>
          </a:p>
          <a:p>
            <a:pPr lvl="1"/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Millions</a:t>
            </a:r>
            <a:r>
              <a:rPr lang="en-US" kern="100" spc="18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kern="100" spc="18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en-US" kern="100" spc="18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kern="100" spc="18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kern="1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fering</a:t>
            </a:r>
            <a:r>
              <a:rPr lang="en-US" kern="100" spc="17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health issues. </a:t>
            </a:r>
          </a:p>
          <a:p>
            <a:pPr lvl="1"/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 need to get serious about their health issues</a:t>
            </a:r>
          </a:p>
          <a:p>
            <a:pPr lvl="1"/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 need to realize </a:t>
            </a: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easy it is to fix 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 issues</a:t>
            </a: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20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</a:t>
            </a:r>
            <a:r>
              <a:rPr lang="en-US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asy access to medical </a:t>
            </a:r>
            <a:r>
              <a:rPr lang="en-US" sz="20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 </a:t>
            </a:r>
          </a:p>
          <a:p>
            <a:pPr lvl="1"/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Science is understandable to everybody.</a:t>
            </a:r>
          </a:p>
          <a:p>
            <a:pPr lvl="1"/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care is under fingertips. </a:t>
            </a:r>
          </a:p>
          <a:p>
            <a:endParaRPr lang="en-US" sz="2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897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8181-C67A-3DAF-9A7C-90B4AEEC2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4EC33-C1D2-5D1E-CAA3-DE9EC396A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provides</a:t>
            </a:r>
            <a:r>
              <a:rPr lang="en-US" sz="1800" kern="100" spc="19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lang="en-US" sz="1800" kern="100" spc="19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en-US" sz="1800" kern="100" spc="19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en-US" sz="1800" kern="100" spc="19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1800" kern="100" spc="19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lang="en-US" sz="1800" kern="100" spc="19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lang="en-US" sz="1800" kern="100" spc="19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800" kern="100" spc="19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 people understand their health issues.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800" kern="100" spc="-9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aggregate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several data sources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such as medical journals and clinical knowledge-base to train recommendation models, keyword extraction models, summarization models, video understanding models, and web crawling models through machine learning.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Users can query their symptoms through this service to obtain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 related solutions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forms which are easy for them to use, such as case studies, videos, and reference books.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Users can also perform advance search with the help of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recommended medical terms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such as keywords and summary which are extracted from the selected publication.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0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9E3C4-54F4-CC67-A2EA-4047A5AC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65EB-912D-AD4E-E2F8-C8A864493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United States, each year, health care industry makes $115 billion dollars in sales.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</a:t>
            </a:r>
            <a:r>
              <a:rPr lang="en-US" sz="1800" kern="100" spc="2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YORK, July 18 (Reuters) -</a:t>
            </a:r>
            <a:r>
              <a:rPr lang="en-US" sz="1800" kern="1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rate of</a:t>
            </a:r>
            <a:r>
              <a:rPr lang="en-US" sz="1800" kern="100" spc="-6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Americans who are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uninsured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will rise to 8.9% over the next decade from 7.7% in 2024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According to</a:t>
            </a:r>
            <a:r>
              <a:rPr lang="en-US" sz="1800" kern="1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WTW</a:t>
            </a:r>
            <a:r>
              <a:rPr lang="en-US" sz="1800" kern="100" spc="-6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(</a:t>
            </a:r>
            <a:r>
              <a:rPr lang="en-US" sz="1400" b="0" i="0" dirty="0">
                <a:solidFill>
                  <a:srgbClr val="2F2C31"/>
                </a:solidFill>
                <a:effectLst/>
                <a:latin typeface="Graphik LCG Web"/>
              </a:rPr>
              <a:t> </a:t>
            </a:r>
            <a:r>
              <a:rPr lang="en-US" sz="18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Willis Towers Watson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Global Medical</a:t>
            </a:r>
            <a:r>
              <a:rPr lang="en-US" sz="1800" kern="1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spc="-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rends Surve</a:t>
            </a:r>
            <a:r>
              <a:rPr lang="en-US" sz="1800" kern="100" spc="-8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Health care cost </a:t>
            </a:r>
            <a:r>
              <a:rPr lang="en-US" sz="18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endParaRPr lang="en-US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cost of </a:t>
            </a:r>
            <a:r>
              <a:rPr 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care benefits in the U.S</a:t>
            </a:r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.: increase to 8.9% in 2024, compared with 8.2% in 2023. </a:t>
            </a:r>
          </a:p>
          <a:p>
            <a:pPr lvl="1"/>
            <a:r>
              <a:rPr 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Globall</a:t>
            </a:r>
            <a:r>
              <a:rPr lang="en-US" sz="1400" kern="100" spc="-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 increase will ease slightly to 9.9% after hitting a record high of 10.7% in 2023</a:t>
            </a:r>
          </a:p>
          <a:p>
            <a:pPr lvl="1"/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will increase again in the coming few years. </a:t>
            </a:r>
          </a:p>
          <a:p>
            <a:pPr lvl="1"/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Nearly three-fifths of </a:t>
            </a:r>
            <a:r>
              <a:rPr 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insurers</a:t>
            </a:r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expect higher or significantly higher increases over the subsequent three years following 2024.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547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AF22-01C8-D351-B42B-1D6CD3B0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B941E-0B9B-07C2-6B1F-FA28E9DE8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sz="2400" kern="100" spc="27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lang="en-US" sz="2400" kern="100" spc="27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400" kern="100" spc="27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consumers</a:t>
            </a:r>
            <a:r>
              <a:rPr lang="en-US" sz="2400" kern="100" spc="27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kern="100" spc="27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400" kern="100" spc="27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lang="en-US" sz="2400" kern="100" spc="27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primarily</a:t>
            </a:r>
            <a:r>
              <a:rPr lang="en-US" sz="2400" kern="100" spc="27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lang="en-US" sz="2400" kern="100" spc="27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400" kern="100" spc="27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kern="100" spc="27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en-US" sz="2400" kern="100" spc="27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factors,</a:t>
            </a:r>
            <a:r>
              <a:rPr lang="en-US" sz="2400" kern="100" spc="27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people need this service:</a:t>
            </a:r>
            <a:endParaRPr lang="en-US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Pain signals. When the pain is strong enough to bother daily lives, people will need this service.</a:t>
            </a:r>
          </a:p>
          <a:p>
            <a:pPr lvl="1"/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difficulty of making appointments with medical doctors. When people are suffering from the pain and cannot get treatment immediately, they need this service.</a:t>
            </a:r>
          </a:p>
          <a:p>
            <a:pPr lvl="1"/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insurance is expensive. When people are suffering from the pain and have no medical insurance, they need this service.</a:t>
            </a: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354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AE69-D36C-805A-24B8-EA9A9587C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E8E29-D9A5-C880-ECF5-D5E64FD3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 Term </a:t>
            </a: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early diagnosis and treatment with zero cost.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dirty="0"/>
              <a:t>Short Term</a:t>
            </a:r>
          </a:p>
          <a:p>
            <a:r>
              <a:rPr lang="en-US" sz="1800" kern="100" spc="-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ad-hoc health tracker for everybody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34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B28A-BC50-A0A9-98D5-436AC783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2838D-D2EA-8EBF-EDCB-9C2B78931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z="1800" kern="100" spc="2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National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800" kern="100" spc="2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Control,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kern="100" spc="2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 happen in population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no insurance or no time to use insurance (working class)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Q3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2023,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kern="100" spc="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uninsured</a:t>
            </a:r>
            <a:r>
              <a:rPr lang="en-US" sz="1800" kern="100" spc="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en-US" sz="1800" kern="100" spc="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United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7.7%,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lowest</a:t>
            </a:r>
            <a:r>
              <a:rPr lang="en-US" sz="1800" kern="1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since 2001.</a:t>
            </a:r>
            <a:r>
              <a:rPr lang="en-US" sz="1800" kern="100" spc="19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800" kern="100" spc="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2024,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Gallup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half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adults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800" kern="1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  <a:r>
              <a:rPr lang="en-US" sz="1800" kern="100" spc="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800" kern="100" spc="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800" kern="100" spc="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uppe</a:t>
            </a:r>
            <a:r>
              <a:rPr lang="en-US" sz="1800" kern="100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-middle class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Working-class people have no time to see doctors and to use their insurance.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6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1FA3-BEDF-205A-EED6-D5D23DA5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9752-1127-33CF-6A28-77967864B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1800" kern="100" spc="13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en-US" sz="1800" kern="100" spc="1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issues,</a:t>
            </a:r>
            <a:r>
              <a:rPr lang="en-US" sz="1800" kern="100" spc="1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especially</a:t>
            </a:r>
            <a:r>
              <a:rPr lang="en-US" sz="1800" kern="100" spc="1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middle-class people who</a:t>
            </a:r>
            <a:r>
              <a:rPr lang="en-US" sz="1800" kern="100" spc="18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z="1800" kern="100" spc="18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1800" kern="100" spc="18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1800" kern="100" spc="18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800" kern="100" spc="18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 sz="1800" kern="100" spc="18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r>
              <a:rPr lang="en-US" sz="1800" kern="100" spc="18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lvl="1"/>
            <a:r>
              <a:rPr lang="en-US" sz="18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lower-class people who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z="1800" kern="100" spc="18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health insurance. </a:t>
            </a: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172 </a:t>
            </a:r>
            <a:r>
              <a:rPr lang="en-US" sz="18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million customers </a:t>
            </a:r>
          </a:p>
          <a:p>
            <a:pPr lvl="1"/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estimated</a:t>
            </a:r>
            <a:r>
              <a:rPr lang="en-US" sz="1400" kern="1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1400" kern="1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potential</a:t>
            </a:r>
            <a:r>
              <a:rPr lang="en-US" sz="1400" kern="1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r>
              <a:rPr lang="en-US" sz="1400" kern="1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US is half of the population, which </a:t>
            </a: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1400" kern="1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172 million (</a:t>
            </a:r>
            <a:r>
              <a: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172,832,029.00). </a:t>
            </a:r>
            <a:endParaRPr lang="en-US" sz="1400" kern="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533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A2A0-2DF4-C9BB-E4E8-8E783919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Services – Mayo Clinic</a:t>
            </a:r>
          </a:p>
        </p:txBody>
      </p:sp>
      <p:pic>
        <p:nvPicPr>
          <p:cNvPr id="11" name="Content Placeholder 6" descr="A screenshot of a medical website&#10;&#10;Description automatically generated">
            <a:extLst>
              <a:ext uri="{FF2B5EF4-FFF2-40B4-BE49-F238E27FC236}">
                <a16:creationId xmlns:a16="http://schemas.microsoft.com/office/drawing/2014/main" id="{1CC9C80F-09ED-8896-0B82-BE24B3E80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692" y="2476785"/>
            <a:ext cx="3505200" cy="2653000"/>
          </a:xfrm>
          <a:prstGeom prst="rect">
            <a:avLst/>
          </a:prstGeom>
        </p:spPr>
      </p:pic>
      <p:pic>
        <p:nvPicPr>
          <p:cNvPr id="17" name="Content Placeholder 13" descr="A screenshot of a medical website&#10;&#10;Description automatically generated">
            <a:extLst>
              <a:ext uri="{FF2B5EF4-FFF2-40B4-BE49-F238E27FC236}">
                <a16:creationId xmlns:a16="http://schemas.microsoft.com/office/drawing/2014/main" id="{B368A613-3D4D-CC26-49F1-80D538B5F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06513" y="2476785"/>
            <a:ext cx="3416462" cy="2651697"/>
          </a:xfrm>
        </p:spPr>
      </p:pic>
      <p:pic>
        <p:nvPicPr>
          <p:cNvPr id="19" name="Picture 18" descr="A screenshot of a medical website&#10;&#10;Description automatically generated">
            <a:extLst>
              <a:ext uri="{FF2B5EF4-FFF2-40B4-BE49-F238E27FC236}">
                <a16:creationId xmlns:a16="http://schemas.microsoft.com/office/drawing/2014/main" id="{FD250F0F-7E9E-0DFD-0BC8-F27B5CD65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458283"/>
            <a:ext cx="3629025" cy="2670199"/>
          </a:xfrm>
          <a:prstGeom prst="rect">
            <a:avLst/>
          </a:prstGeom>
        </p:spPr>
      </p:pic>
      <p:sp>
        <p:nvSpPr>
          <p:cNvPr id="20" name="Rectangular Callout 19">
            <a:extLst>
              <a:ext uri="{FF2B5EF4-FFF2-40B4-BE49-F238E27FC236}">
                <a16:creationId xmlns:a16="http://schemas.microsoft.com/office/drawing/2014/main" id="{58B91EB1-4FC2-AE9B-4F2A-D6005E85FB34}"/>
              </a:ext>
            </a:extLst>
          </p:cNvPr>
          <p:cNvSpPr/>
          <p:nvPr/>
        </p:nvSpPr>
        <p:spPr>
          <a:xfrm>
            <a:off x="2631990" y="2916195"/>
            <a:ext cx="1322172" cy="654908"/>
          </a:xfrm>
          <a:prstGeom prst="wedgeRectCallout">
            <a:avLst>
              <a:gd name="adj1" fmla="val -115377"/>
              <a:gd name="adj2" fmla="val 794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Symptoms</a:t>
            </a:r>
          </a:p>
        </p:txBody>
      </p:sp>
      <p:sp>
        <p:nvSpPr>
          <p:cNvPr id="21" name="Rectangular Callout 20">
            <a:extLst>
              <a:ext uri="{FF2B5EF4-FFF2-40B4-BE49-F238E27FC236}">
                <a16:creationId xmlns:a16="http://schemas.microsoft.com/office/drawing/2014/main" id="{86B03576-3B84-B2D9-19C0-8F56C7211566}"/>
              </a:ext>
            </a:extLst>
          </p:cNvPr>
          <p:cNvSpPr/>
          <p:nvPr/>
        </p:nvSpPr>
        <p:spPr>
          <a:xfrm>
            <a:off x="6429633" y="2916195"/>
            <a:ext cx="1322172" cy="654908"/>
          </a:xfrm>
          <a:prstGeom prst="wedgeRectCallout">
            <a:avLst>
              <a:gd name="adj1" fmla="val -75190"/>
              <a:gd name="adj2" fmla="val 719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22" name="Rectangular Callout 21">
            <a:extLst>
              <a:ext uri="{FF2B5EF4-FFF2-40B4-BE49-F238E27FC236}">
                <a16:creationId xmlns:a16="http://schemas.microsoft.com/office/drawing/2014/main" id="{1832994D-92F3-A4D0-B921-916DEB05E977}"/>
              </a:ext>
            </a:extLst>
          </p:cNvPr>
          <p:cNvSpPr/>
          <p:nvPr/>
        </p:nvSpPr>
        <p:spPr>
          <a:xfrm>
            <a:off x="10500802" y="2916195"/>
            <a:ext cx="1509965" cy="654908"/>
          </a:xfrm>
          <a:prstGeom prst="wedgeRectCallout">
            <a:avLst>
              <a:gd name="adj1" fmla="val -68648"/>
              <a:gd name="adj2" fmla="val 568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Specialties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B58700-50AA-D93D-5F3A-6849563D9DF0}"/>
              </a:ext>
            </a:extLst>
          </p:cNvPr>
          <p:cNvSpPr txBox="1"/>
          <p:nvPr/>
        </p:nvSpPr>
        <p:spPr>
          <a:xfrm>
            <a:off x="628650" y="5350476"/>
            <a:ext cx="1119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https://www.mayoclinic.org/diseases-conditions/heart-attack/symptoms-causes/syc-20373106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673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69BA3-4198-A331-5617-ACD1BA29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A94FD-2AC2-62DA-A140-E48E767B8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Harvard</a:t>
            </a:r>
          </a:p>
          <a:p>
            <a:pPr lvl="1"/>
            <a:r>
              <a:rPr lang="en-US" dirty="0">
                <a:hlinkClick r:id="rId2"/>
              </a:rPr>
              <a:t>https://www.health.harvard.edu/heart-health/chest-pain-a-heart-attack-or-something-else</a:t>
            </a:r>
            <a:endParaRPr lang="en-US" dirty="0"/>
          </a:p>
          <a:p>
            <a:r>
              <a:rPr lang="en-US" dirty="0"/>
              <a:t>Johns Hopkins</a:t>
            </a:r>
          </a:p>
          <a:p>
            <a:pPr lvl="1"/>
            <a:r>
              <a:rPr lang="en-US" dirty="0">
                <a:hlinkClick r:id="rId3"/>
              </a:rPr>
              <a:t>https://www.hopkinsmedicine.org/health/conditions-and-diseases/heart-attack</a:t>
            </a:r>
            <a:endParaRPr lang="en-US" dirty="0"/>
          </a:p>
          <a:p>
            <a:r>
              <a:rPr lang="en-US" dirty="0"/>
              <a:t>Cleveland Clinic</a:t>
            </a:r>
          </a:p>
          <a:p>
            <a:pPr lvl="1"/>
            <a:r>
              <a:rPr lang="en-US" dirty="0">
                <a:hlinkClick r:id="rId4"/>
              </a:rPr>
              <a:t>https://my.clevelandclinic.org/health/diseases/16818-heart-attack-myocardial-infarction</a:t>
            </a:r>
            <a:endParaRPr lang="en-US" dirty="0"/>
          </a:p>
          <a:p>
            <a:r>
              <a:rPr lang="en-US" dirty="0"/>
              <a:t>WebMD</a:t>
            </a:r>
          </a:p>
          <a:p>
            <a:pPr lvl="1"/>
            <a:r>
              <a:rPr lang="en-US" dirty="0">
                <a:hlinkClick r:id="rId5"/>
              </a:rPr>
              <a:t>https://www.webmd.com/heart-disease/coronary-artery-disease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949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28E8-5FE1-D914-1EAC-8E488B92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Prototype built with NEJM Publications</a:t>
            </a:r>
          </a:p>
        </p:txBody>
      </p:sp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B10B1D31-FDB6-3822-01FB-3C137744B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3101" y="1728216"/>
            <a:ext cx="10464466" cy="5129784"/>
          </a:xfrm>
        </p:spPr>
      </p:pic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687D1AC5-FE14-DF0A-4E4E-42CF2BC7818C}"/>
              </a:ext>
            </a:extLst>
          </p:cNvPr>
          <p:cNvSpPr/>
          <p:nvPr/>
        </p:nvSpPr>
        <p:spPr>
          <a:xfrm>
            <a:off x="11158899" y="3381852"/>
            <a:ext cx="908304" cy="607504"/>
          </a:xfrm>
          <a:prstGeom prst="wedgeRectCallout">
            <a:avLst>
              <a:gd name="adj1" fmla="val -77461"/>
              <a:gd name="adj2" fmla="val 436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Stats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2FF98A92-0645-D20F-F20F-FDEC193EA534}"/>
              </a:ext>
            </a:extLst>
          </p:cNvPr>
          <p:cNvSpPr/>
          <p:nvPr/>
        </p:nvSpPr>
        <p:spPr>
          <a:xfrm>
            <a:off x="3571875" y="1138428"/>
            <a:ext cx="1214438" cy="589788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Studies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163A62CD-2715-AA17-1628-CD0F4CBBBE05}"/>
              </a:ext>
            </a:extLst>
          </p:cNvPr>
          <p:cNvSpPr/>
          <p:nvPr/>
        </p:nvSpPr>
        <p:spPr>
          <a:xfrm>
            <a:off x="5658115" y="1138428"/>
            <a:ext cx="1214438" cy="589788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Videos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2CE05827-7378-262F-03A6-C72D999FB738}"/>
              </a:ext>
            </a:extLst>
          </p:cNvPr>
          <p:cNvSpPr/>
          <p:nvPr/>
        </p:nvSpPr>
        <p:spPr>
          <a:xfrm>
            <a:off x="7863686" y="1138428"/>
            <a:ext cx="1214438" cy="589788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Books</a:t>
            </a: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5643906D-8EB2-24E0-332D-11BDB259936E}"/>
              </a:ext>
            </a:extLst>
          </p:cNvPr>
          <p:cNvSpPr/>
          <p:nvPr/>
        </p:nvSpPr>
        <p:spPr>
          <a:xfrm>
            <a:off x="10069258" y="1138428"/>
            <a:ext cx="1214438" cy="589788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Sharing</a:t>
            </a:r>
          </a:p>
        </p:txBody>
      </p:sp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DE39AC88-3CA7-36D0-D913-D5DE2C3CA39C}"/>
              </a:ext>
            </a:extLst>
          </p:cNvPr>
          <p:cNvSpPr/>
          <p:nvPr/>
        </p:nvSpPr>
        <p:spPr>
          <a:xfrm>
            <a:off x="10567947" y="5424678"/>
            <a:ext cx="1214438" cy="589788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Live Chat</a:t>
            </a:r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7F2EEEED-9055-7CA2-86D2-737FAF9602C6}"/>
              </a:ext>
            </a:extLst>
          </p:cNvPr>
          <p:cNvSpPr/>
          <p:nvPr/>
        </p:nvSpPr>
        <p:spPr>
          <a:xfrm>
            <a:off x="2092854" y="1433322"/>
            <a:ext cx="1214438" cy="589788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1196885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36A9F-47A1-CB61-4C80-44ECBC050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B21D89F-1FBD-75BA-CF1F-62F3D333A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056" y="1595332"/>
            <a:ext cx="9800640" cy="5262668"/>
          </a:xfrm>
        </p:spPr>
      </p:pic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4A45B5D9-D490-65AC-0558-4E4CDC8C2712}"/>
              </a:ext>
            </a:extLst>
          </p:cNvPr>
          <p:cNvSpPr/>
          <p:nvPr/>
        </p:nvSpPr>
        <p:spPr>
          <a:xfrm>
            <a:off x="9831220" y="4238519"/>
            <a:ext cx="2371725" cy="589788"/>
          </a:xfrm>
          <a:prstGeom prst="wedgeRectCallout">
            <a:avLst>
              <a:gd name="adj1" fmla="val 2059"/>
              <a:gd name="adj2" fmla="val 74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Recommended Case Studies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12240675-ECA9-ED2A-02AC-D64284B6ED8E}"/>
              </a:ext>
            </a:extLst>
          </p:cNvPr>
          <p:cNvSpPr/>
          <p:nvPr/>
        </p:nvSpPr>
        <p:spPr>
          <a:xfrm>
            <a:off x="166776" y="2480014"/>
            <a:ext cx="1483056" cy="589788"/>
          </a:xfrm>
          <a:prstGeom prst="wedgeRectCallout">
            <a:avLst>
              <a:gd name="adj1" fmla="val 52966"/>
              <a:gd name="adj2" fmla="val 794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Study Details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B330102C-3E35-530B-704A-003A20A29FA0}"/>
              </a:ext>
            </a:extLst>
          </p:cNvPr>
          <p:cNvSpPr/>
          <p:nvPr/>
        </p:nvSpPr>
        <p:spPr>
          <a:xfrm>
            <a:off x="10813720" y="1623611"/>
            <a:ext cx="1378279" cy="589788"/>
          </a:xfrm>
          <a:prstGeom prst="wedgeRectCallout">
            <a:avLst>
              <a:gd name="adj1" fmla="val 6548"/>
              <a:gd name="adj2" fmla="val 818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Extracted Keywords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B8101DBA-DA69-E0D9-C63C-4879BC094963}"/>
              </a:ext>
            </a:extLst>
          </p:cNvPr>
          <p:cNvSpPr/>
          <p:nvPr/>
        </p:nvSpPr>
        <p:spPr>
          <a:xfrm>
            <a:off x="10813720" y="2321211"/>
            <a:ext cx="1378280" cy="589788"/>
          </a:xfrm>
          <a:prstGeom prst="wedgeRectCallout">
            <a:avLst>
              <a:gd name="adj1" fmla="val -35284"/>
              <a:gd name="adj2" fmla="val 770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Extracted Summary</a:t>
            </a: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DB6F9D30-5E74-0727-90EE-5C69750F2222}"/>
              </a:ext>
            </a:extLst>
          </p:cNvPr>
          <p:cNvSpPr/>
          <p:nvPr/>
        </p:nvSpPr>
        <p:spPr>
          <a:xfrm>
            <a:off x="10977562" y="3163548"/>
            <a:ext cx="1214438" cy="589788"/>
          </a:xfrm>
          <a:prstGeom prst="wedgeRectCallout">
            <a:avLst>
              <a:gd name="adj1" fmla="val -54951"/>
              <a:gd name="adj2" fmla="val 74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Advance Search</a:t>
            </a:r>
          </a:p>
        </p:txBody>
      </p:sp>
    </p:spTree>
    <p:extLst>
      <p:ext uri="{BB962C8B-B14F-4D97-AF65-F5344CB8AC3E}">
        <p14:creationId xmlns:p14="http://schemas.microsoft.com/office/powerpoint/2010/main" val="710111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CEC67-67BA-4AD9-639B-3CC57BB62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video&#10;&#10;Description automatically generated">
            <a:extLst>
              <a:ext uri="{FF2B5EF4-FFF2-40B4-BE49-F238E27FC236}">
                <a16:creationId xmlns:a16="http://schemas.microsoft.com/office/drawing/2014/main" id="{2ECD4917-0C2A-BDD9-81EF-C4F136C28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359" y="1443038"/>
            <a:ext cx="10199055" cy="5414962"/>
          </a:xfrm>
        </p:spPr>
      </p:pic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694DA242-28FF-EB79-F0EF-191CF9B90481}"/>
              </a:ext>
            </a:extLst>
          </p:cNvPr>
          <p:cNvSpPr/>
          <p:nvPr/>
        </p:nvSpPr>
        <p:spPr>
          <a:xfrm>
            <a:off x="9831220" y="4238519"/>
            <a:ext cx="2371725" cy="589788"/>
          </a:xfrm>
          <a:prstGeom prst="wedgeRectCallout">
            <a:avLst>
              <a:gd name="adj1" fmla="val 2059"/>
              <a:gd name="adj2" fmla="val 74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Recommended Video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FCF081D9-AE5D-E30E-A20C-0622A2945C1B}"/>
              </a:ext>
            </a:extLst>
          </p:cNvPr>
          <p:cNvSpPr/>
          <p:nvPr/>
        </p:nvSpPr>
        <p:spPr>
          <a:xfrm>
            <a:off x="166776" y="2480014"/>
            <a:ext cx="1483056" cy="589788"/>
          </a:xfrm>
          <a:prstGeom prst="wedgeRectCallout">
            <a:avLst>
              <a:gd name="adj1" fmla="val 52966"/>
              <a:gd name="adj2" fmla="val 794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 Details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21FB1394-65A2-987C-B637-3A0026F07EEF}"/>
              </a:ext>
            </a:extLst>
          </p:cNvPr>
          <p:cNvSpPr/>
          <p:nvPr/>
        </p:nvSpPr>
        <p:spPr>
          <a:xfrm>
            <a:off x="10813720" y="1623611"/>
            <a:ext cx="1378279" cy="589788"/>
          </a:xfrm>
          <a:prstGeom prst="wedgeRectCallout">
            <a:avLst>
              <a:gd name="adj1" fmla="val 6548"/>
              <a:gd name="adj2" fmla="val 818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Extracted Keywords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557E60DB-4B37-36BA-35A2-721F130CB6CE}"/>
              </a:ext>
            </a:extLst>
          </p:cNvPr>
          <p:cNvSpPr/>
          <p:nvPr/>
        </p:nvSpPr>
        <p:spPr>
          <a:xfrm>
            <a:off x="10813720" y="2321211"/>
            <a:ext cx="1378280" cy="589788"/>
          </a:xfrm>
          <a:prstGeom prst="wedgeRectCallout">
            <a:avLst>
              <a:gd name="adj1" fmla="val -35284"/>
              <a:gd name="adj2" fmla="val 770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Extracted Summary</a:t>
            </a: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536B5FE7-2AE4-4954-8F60-D2A9DECB8F1D}"/>
              </a:ext>
            </a:extLst>
          </p:cNvPr>
          <p:cNvSpPr/>
          <p:nvPr/>
        </p:nvSpPr>
        <p:spPr>
          <a:xfrm>
            <a:off x="10977562" y="3163548"/>
            <a:ext cx="1214438" cy="589788"/>
          </a:xfrm>
          <a:prstGeom prst="wedgeRectCallout">
            <a:avLst>
              <a:gd name="adj1" fmla="val -54951"/>
              <a:gd name="adj2" fmla="val 74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Advance Search</a:t>
            </a:r>
          </a:p>
        </p:txBody>
      </p:sp>
    </p:spTree>
    <p:extLst>
      <p:ext uri="{BB962C8B-B14F-4D97-AF65-F5344CB8AC3E}">
        <p14:creationId xmlns:p14="http://schemas.microsoft.com/office/powerpoint/2010/main" val="1086434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0F887-8075-0029-C022-686539FA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2D4AA2E-BCEC-D854-E19F-977C21880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8537" y="1471613"/>
            <a:ext cx="9955589" cy="5386387"/>
          </a:xfrm>
        </p:spPr>
      </p:pic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B712CB71-B4C4-CCE3-9A98-A77E25DCBE43}"/>
              </a:ext>
            </a:extLst>
          </p:cNvPr>
          <p:cNvSpPr/>
          <p:nvPr/>
        </p:nvSpPr>
        <p:spPr>
          <a:xfrm>
            <a:off x="9831220" y="4238519"/>
            <a:ext cx="2371725" cy="589788"/>
          </a:xfrm>
          <a:prstGeom prst="wedgeRectCallout">
            <a:avLst>
              <a:gd name="adj1" fmla="val 2059"/>
              <a:gd name="adj2" fmla="val 74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Recommended Books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578F48F8-49D5-6E87-3988-6E08FEB324F2}"/>
              </a:ext>
            </a:extLst>
          </p:cNvPr>
          <p:cNvSpPr/>
          <p:nvPr/>
        </p:nvSpPr>
        <p:spPr>
          <a:xfrm>
            <a:off x="166776" y="2480014"/>
            <a:ext cx="1483056" cy="589788"/>
          </a:xfrm>
          <a:prstGeom prst="wedgeRectCallout">
            <a:avLst>
              <a:gd name="adj1" fmla="val 52966"/>
              <a:gd name="adj2" fmla="val 794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 Details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9A776E3A-3C98-00FE-1E0B-907AA8B1E96E}"/>
              </a:ext>
            </a:extLst>
          </p:cNvPr>
          <p:cNvSpPr/>
          <p:nvPr/>
        </p:nvSpPr>
        <p:spPr>
          <a:xfrm>
            <a:off x="10813720" y="1623611"/>
            <a:ext cx="1378279" cy="589788"/>
          </a:xfrm>
          <a:prstGeom prst="wedgeRectCallout">
            <a:avLst>
              <a:gd name="adj1" fmla="val 6548"/>
              <a:gd name="adj2" fmla="val 818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Extracted Keywords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32601B7E-6351-6AB1-460C-A50A6100BCEE}"/>
              </a:ext>
            </a:extLst>
          </p:cNvPr>
          <p:cNvSpPr/>
          <p:nvPr/>
        </p:nvSpPr>
        <p:spPr>
          <a:xfrm>
            <a:off x="10813720" y="2321211"/>
            <a:ext cx="1378280" cy="589788"/>
          </a:xfrm>
          <a:prstGeom prst="wedgeRectCallout">
            <a:avLst>
              <a:gd name="adj1" fmla="val -35284"/>
              <a:gd name="adj2" fmla="val 770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Extracted Summary</a:t>
            </a: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0A18D755-B952-1621-C97A-BD07FA8263E9}"/>
              </a:ext>
            </a:extLst>
          </p:cNvPr>
          <p:cNvSpPr/>
          <p:nvPr/>
        </p:nvSpPr>
        <p:spPr>
          <a:xfrm>
            <a:off x="10977562" y="3163548"/>
            <a:ext cx="1214438" cy="589788"/>
          </a:xfrm>
          <a:prstGeom prst="wedgeRectCallout">
            <a:avLst>
              <a:gd name="adj1" fmla="val -54951"/>
              <a:gd name="adj2" fmla="val 74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Advance Search</a:t>
            </a:r>
          </a:p>
        </p:txBody>
      </p:sp>
    </p:spTree>
    <p:extLst>
      <p:ext uri="{BB962C8B-B14F-4D97-AF65-F5344CB8AC3E}">
        <p14:creationId xmlns:p14="http://schemas.microsoft.com/office/powerpoint/2010/main" val="3056225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DC30-253A-130E-E65C-37369B2E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B7FA5BF-5A25-9DD8-D92C-960017DF3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610" y="1728216"/>
            <a:ext cx="11291780" cy="5129784"/>
          </a:xfrm>
        </p:spPr>
      </p:pic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3BE945DB-2034-406F-B2B1-50558EB57CCF}"/>
              </a:ext>
            </a:extLst>
          </p:cNvPr>
          <p:cNvSpPr/>
          <p:nvPr/>
        </p:nvSpPr>
        <p:spPr>
          <a:xfrm>
            <a:off x="9544665" y="2615332"/>
            <a:ext cx="2371725" cy="584919"/>
          </a:xfrm>
          <a:prstGeom prst="wedgeRectCallout">
            <a:avLst>
              <a:gd name="adj1" fmla="val 2059"/>
              <a:gd name="adj2" fmla="val 74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User’s posts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DD610C73-958F-ADC3-1BF0-F6D090721636}"/>
              </a:ext>
            </a:extLst>
          </p:cNvPr>
          <p:cNvSpPr/>
          <p:nvPr/>
        </p:nvSpPr>
        <p:spPr>
          <a:xfrm>
            <a:off x="109626" y="2208551"/>
            <a:ext cx="1483056" cy="589788"/>
          </a:xfrm>
          <a:prstGeom prst="wedgeRectCallout">
            <a:avLst>
              <a:gd name="adj1" fmla="val 52966"/>
              <a:gd name="adj2" fmla="val 794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Post</a:t>
            </a:r>
          </a:p>
        </p:txBody>
      </p:sp>
    </p:spTree>
    <p:extLst>
      <p:ext uri="{BB962C8B-B14F-4D97-AF65-F5344CB8AC3E}">
        <p14:creationId xmlns:p14="http://schemas.microsoft.com/office/powerpoint/2010/main" val="3534992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56EA-529D-DEEE-242C-65D5DDC2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hat&#10;&#10;Description automatically generated">
            <a:extLst>
              <a:ext uri="{FF2B5EF4-FFF2-40B4-BE49-F238E27FC236}">
                <a16:creationId xmlns:a16="http://schemas.microsoft.com/office/drawing/2014/main" id="{2E472FE2-EAB4-8DE1-FD37-F3FCA4C74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7489" y="1692175"/>
            <a:ext cx="3757811" cy="5165825"/>
          </a:xfrm>
        </p:spPr>
      </p:pic>
    </p:spTree>
    <p:extLst>
      <p:ext uri="{BB962C8B-B14F-4D97-AF65-F5344CB8AC3E}">
        <p14:creationId xmlns:p14="http://schemas.microsoft.com/office/powerpoint/2010/main" val="4006491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BBD9-0F02-8CF1-836A-76246BE0E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DengXian" panose="02010600030101010101" pitchFamily="2" charset="-122"/>
              </a:rPr>
              <a:t>AN</a:t>
            </a:r>
            <a:r>
              <a:rPr lang="en-US" dirty="0">
                <a:effectLst/>
                <a:ea typeface="DengXian" panose="02010600030101010101" pitchFamily="2" charset="-122"/>
              </a:rPr>
              <a:t> EXTENSION OF EXISTING RESEARCH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34E7D-4F56-0A34-419A-98E34A2A1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Lu, Lucy M., and Richard S.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Segall</a:t>
            </a:r>
            <a:r>
              <a:rPr lang="en-US" sz="1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"Extract Clinical Lab Tests from Electronic Hospital Records Through Featured Transformer Model." </a:t>
            </a:r>
            <a:r>
              <a:rPr lang="en-US" sz="1800" i="1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IJPHIMT</a:t>
            </a:r>
            <a:r>
              <a:rPr lang="en-US" sz="1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vol.10, no.1 2024: pp.1-18. </a:t>
            </a:r>
            <a:r>
              <a:rPr lang="en-US" sz="1800" u="sng" kern="100" dirty="0">
                <a:solidFill>
                  <a:srgbClr val="467886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2"/>
              </a:rPr>
              <a:t>https://doi.org/10.4018/IJPHIMT.336529</a:t>
            </a:r>
            <a:r>
              <a:rPr lang="en-US" sz="1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https://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www.igi-global.com</a:t>
            </a:r>
            <a:r>
              <a:rPr lang="en-US" sz="1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pdf.aspx?tid</a:t>
            </a:r>
            <a:r>
              <a:rPr lang="en-US" sz="1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=336529&amp;ptid=278136&amp;ctid=4&amp;oa=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true&amp;isxn</a:t>
            </a:r>
            <a:r>
              <a:rPr lang="en-US" sz="1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=9781683182368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60390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LeftStep">
      <a:dk1>
        <a:srgbClr val="000000"/>
      </a:dk1>
      <a:lt1>
        <a:srgbClr val="FFFFFF"/>
      </a:lt1>
      <a:dk2>
        <a:srgbClr val="1B2830"/>
      </a:dk2>
      <a:lt2>
        <a:srgbClr val="F0F3F1"/>
      </a:lt2>
      <a:accent1>
        <a:srgbClr val="E32D9B"/>
      </a:accent1>
      <a:accent2>
        <a:srgbClr val="CD1BD1"/>
      </a:accent2>
      <a:accent3>
        <a:srgbClr val="932DE3"/>
      </a:accent3>
      <a:accent4>
        <a:srgbClr val="4E36D6"/>
      </a:accent4>
      <a:accent5>
        <a:srgbClr val="2D5EE3"/>
      </a:accent5>
      <a:accent6>
        <a:srgbClr val="1B98D1"/>
      </a:accent6>
      <a:hlink>
        <a:srgbClr val="349C5D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2085</TotalTime>
  <Words>883</Words>
  <Application>Microsoft Macintosh PowerPoint</Application>
  <PresentationFormat>Widescreen</PresentationFormat>
  <Paragraphs>110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DengXian</vt:lpstr>
      <vt:lpstr>Graphik LCG Web</vt:lpstr>
      <vt:lpstr>Aptos</vt:lpstr>
      <vt:lpstr>Arial</vt:lpstr>
      <vt:lpstr>Calibri</vt:lpstr>
      <vt:lpstr>Neue Haas Grotesk Text Pro</vt:lpstr>
      <vt:lpstr>Times New Roman</vt:lpstr>
      <vt:lpstr>AccentBoxVTI</vt:lpstr>
      <vt:lpstr>Public Health Care Service</vt:lpstr>
      <vt:lpstr>PROJECT DESCRIPTION</vt:lpstr>
      <vt:lpstr>OUR MISSION</vt:lpstr>
      <vt:lpstr>OUR SERVICE</vt:lpstr>
      <vt:lpstr>INDUSTRY SUMMARY</vt:lpstr>
      <vt:lpstr>PowerPoint Presentation</vt:lpstr>
      <vt:lpstr>GOALS</vt:lpstr>
      <vt:lpstr>MARKET SUMMARY</vt:lpstr>
      <vt:lpstr>CUSTOMER SUMMARY</vt:lpstr>
      <vt:lpstr>Existing Services – Mayo Clinic</vt:lpstr>
      <vt:lpstr>Existing Services</vt:lpstr>
      <vt:lpstr>Prototype built with NEJM Publications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EXTENSION OF EXISTING RESEARCH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Lu, Lucy</dc:creator>
  <cp:lastModifiedBy>Lu, Lucy</cp:lastModifiedBy>
  <cp:revision>118</cp:revision>
  <cp:lastPrinted>2024-11-06T14:51:00Z</cp:lastPrinted>
  <dcterms:created xsi:type="dcterms:W3CDTF">2024-08-22T14:38:08Z</dcterms:created>
  <dcterms:modified xsi:type="dcterms:W3CDTF">2024-11-07T16:52:37Z</dcterms:modified>
</cp:coreProperties>
</file>